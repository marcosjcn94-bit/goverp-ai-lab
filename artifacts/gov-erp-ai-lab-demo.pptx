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C08FA3-FCAE-7248-D1E8-1E52CD39EF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26AD102-707E-C1DF-DCF5-E4A5158290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7B3F551-F68F-25C5-12BD-E5BD4F7F1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1240A-8987-406F-A566-73EEC2B95B57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9AB8E10-60A6-F83B-1CD5-95D714124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B0006EE-6A61-D1AD-1CB9-567216FC0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769E3-D519-4B07-BC0B-0297214C28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6757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E7BA9D-8549-9084-1D0F-412FCC95A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6177BD3-BDFE-C001-3B6C-6CB32FA4B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F9ADB69-BA6E-C37E-050F-E5301A8C3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1240A-8987-406F-A566-73EEC2B95B57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5736336-7E8A-2EA1-F927-B584EF15B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08B4925-8D0F-6F92-9B76-F0733E816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769E3-D519-4B07-BC0B-0297214C28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6908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9B6809-3650-D85F-5516-A13F9BF4C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7C38551-A210-9668-905A-CA3E4D456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9F83859-86A5-7455-195B-D0068B26D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1240A-8987-406F-A566-73EEC2B95B57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DD3AAD-9C04-F0AD-EF95-11B673DA8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4515977-48EE-FDD0-8BBE-705F1B1DE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769E3-D519-4B07-BC0B-0297214C28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5743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B5B03F-1D49-0A94-0507-D6DE4FD08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C28E6E-45E3-447B-7412-0ADF29C395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9015F53-7EEF-38F4-4F77-103C5294C4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CADB9B5-F245-F745-7C11-E1A440B79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1240A-8987-406F-A566-73EEC2B95B57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105863B-2F14-829C-74A8-F86C55A05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952A739-7BFF-DE67-97FF-AD5232463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769E3-D519-4B07-BC0B-0297214C28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9959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531939-7310-75C0-C8E5-A11274376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83CC31E-D076-6A3C-75EE-ED30C918B0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2D84A45-BFAB-7C92-45E8-A3987594B6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236BF3A-4D80-2BD1-AFE9-65E1C7BB8A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0AC9541-7BAD-5C3D-341C-045F8DBB73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60C0949-DECF-965E-26D2-011EE1C05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1240A-8987-406F-A566-73EEC2B95B57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C6DFA16-80C7-4776-6473-6FC8399CC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80EA52C-7D44-A46C-4587-764A200A3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769E3-D519-4B07-BC0B-0297214C28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7873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EF0FA9-B289-941A-F905-E03CA835B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2861433-F73D-8585-6A71-0C323F333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1240A-8987-406F-A566-73EEC2B95B57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BFCC72B-2852-4596-15B4-2E68471DF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EA2913A-7417-492B-AD89-062B96A96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769E3-D519-4B07-BC0B-0297214C28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8994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6DB1D18-3DD6-64F8-E390-649E1B569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1240A-8987-406F-A566-73EEC2B95B57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0208DE0-23DC-6135-3D88-CF25CBE48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33C6960-B555-C446-0281-4DE2BDF94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769E3-D519-4B07-BC0B-0297214C28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0768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2EB0ED-A550-338E-45E1-D12AE59C2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5D98A96-845B-658A-8261-64135A23F5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9EB409B-FE8D-378F-C83D-9BF6FE9031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35EBBD3-6E66-BA3C-8F9C-472E5A727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1240A-8987-406F-A566-73EEC2B95B57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58A3DB8-6AB5-5B0B-CB42-6ED6926BE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C31A9BA-A357-E5F8-098A-34B7BE81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769E3-D519-4B07-BC0B-0297214C28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208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8EEEC0-C820-19F9-E841-AA953CC96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402ECA0-92ED-8912-8E29-8C6EA2B6F1D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5EB8645-BE81-3582-4A82-06688D0500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26DC38F-9579-F20F-4900-753F4C017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1240A-8987-406F-A566-73EEC2B95B57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9B0C5BE-33C7-8511-5AAA-B7C570409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4FAC73D-909F-68BF-166B-452CFE4AE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769E3-D519-4B07-BC0B-0297214C28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0532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9533E-EBDA-16CE-F9D5-5494964FE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C8D9FAD-EF02-3FB7-5796-0FA0164086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1D6D34D-8AA8-B4D1-4465-6E44518B3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1240A-8987-406F-A566-73EEC2B95B57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67AC91B-F5E2-B535-10A1-1FDD50436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1086349-A4F4-8C25-AE2F-F2E0B8E14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769E3-D519-4B07-BC0B-0297214C28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4456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E4CD87C-4008-94AA-1E24-E736CE7277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E5766B4-7328-3061-FC02-F934486110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FFA5284-2C0B-B839-AA0C-A4692DB30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1240A-8987-406F-A566-73EEC2B95B57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08AB14-1D34-39CF-7816-6DB016EB6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40A6AA4-64EC-5B0E-55D0-40D066895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769E3-D519-4B07-BC0B-0297214C28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2498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0967884-D954-D59F-BC0C-8C06E6D38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858D531-E632-C842-6FA9-F9F1A671D9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28B9B2C-74FE-4F71-6E41-53E16348F1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01240A-8987-406F-A566-73EEC2B95B57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7ADB39-F20D-35C1-8617-249F47FB28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C354C4A-F431-E519-7523-BB8AADB0B9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3769E3-D519-4B07-BC0B-0297214C28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4606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0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D56FDBE3-6F3F-65F2-4CEE-39B2F993E84B}"/>
              </a:ext>
            </a:extLst>
          </p:cNvPr>
          <p:cNvSpPr/>
          <p:nvPr/>
        </p:nvSpPr>
        <p:spPr>
          <a:xfrm>
            <a:off x="863600" y="1041400"/>
            <a:ext cx="101600" cy="4673600"/>
          </a:xfrm>
          <a:prstGeom prst="rect">
            <a:avLst/>
          </a:prstGeom>
          <a:solidFill>
            <a:srgbClr val="087E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F64F0E3-C6C7-1792-AEB9-05BEBFEE35A0}"/>
              </a:ext>
            </a:extLst>
          </p:cNvPr>
          <p:cNvSpPr txBox="1"/>
          <p:nvPr/>
        </p:nvSpPr>
        <p:spPr>
          <a:xfrm>
            <a:off x="1270000" y="1219200"/>
            <a:ext cx="9906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 b="1">
                <a:solidFill>
                  <a:srgbClr val="DDF1EA"/>
                </a:solidFill>
                <a:latin typeface="Aptos" panose="020B0004020202020204" pitchFamily="34" charset="0"/>
              </a:rPr>
              <a:t>GOVERP AI LAB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14F6D48-B1C3-C767-1FD9-A11B04959515}"/>
              </a:ext>
            </a:extLst>
          </p:cNvPr>
          <p:cNvSpPr txBox="1"/>
          <p:nvPr/>
        </p:nvSpPr>
        <p:spPr>
          <a:xfrm>
            <a:off x="1270000" y="1905000"/>
            <a:ext cx="10033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3600" b="1">
                <a:solidFill>
                  <a:srgbClr val="FFFFFF"/>
                </a:solidFill>
                <a:latin typeface="Aptos" panose="020B0004020202020204" pitchFamily="34" charset="0"/>
              </a:rPr>
              <a:t>Serviços municipais\ncom evidência e revisão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44A39A5-F83F-1ED2-BC87-F553961F63A3}"/>
              </a:ext>
            </a:extLst>
          </p:cNvPr>
          <p:cNvSpPr txBox="1"/>
          <p:nvPr/>
        </p:nvSpPr>
        <p:spPr>
          <a:xfrm>
            <a:off x="1270000" y="3860800"/>
            <a:ext cx="9779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900">
                <a:solidFill>
                  <a:srgbClr val="DDF1EA"/>
                </a:solidFill>
                <a:latin typeface="Aptos" panose="020B0004020202020204" pitchFamily="34" charset="0"/>
              </a:rPr>
              <a:t>Demonstração local · Paraná · dados sintéticos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3252AC3C-8ED6-3D61-57B2-9257A12727DC}"/>
              </a:ext>
            </a:extLst>
          </p:cNvPr>
          <p:cNvSpPr/>
          <p:nvPr/>
        </p:nvSpPr>
        <p:spPr>
          <a:xfrm>
            <a:off x="1270000" y="4724400"/>
            <a:ext cx="3937000" cy="584200"/>
          </a:xfrm>
          <a:prstGeom prst="roundRect">
            <a:avLst/>
          </a:prstGeom>
          <a:solidFill>
            <a:srgbClr val="087E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729D74B-CEF9-04C1-A8D9-8F6C2C4D1043}"/>
              </a:ext>
            </a:extLst>
          </p:cNvPr>
          <p:cNvSpPr txBox="1"/>
          <p:nvPr/>
        </p:nvSpPr>
        <p:spPr>
          <a:xfrm>
            <a:off x="1473200" y="4889500"/>
            <a:ext cx="3556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100" b="1">
                <a:solidFill>
                  <a:srgbClr val="FFFFFF"/>
                </a:solidFill>
                <a:latin typeface="Aptos" panose="020B0004020202020204" pitchFamily="34" charset="0"/>
              </a:rPr>
              <a:t>RELATÓRIO  ·  AUDITORIA  ·  FONTES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87B0D42-2EB2-88A2-AE7F-11FF9CAD28E1}"/>
              </a:ext>
            </a:extLst>
          </p:cNvPr>
          <p:cNvSpPr txBox="1"/>
          <p:nvPr/>
        </p:nvSpPr>
        <p:spPr>
          <a:xfrm>
            <a:off x="11290300" y="203200"/>
            <a:ext cx="5715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00">
                <a:solidFill>
                  <a:srgbClr val="FFFFFF"/>
                </a:solidFill>
                <a:latin typeface="Aptos" panose="020B0004020202020204" pitchFamily="34" charset="0"/>
              </a:rPr>
              <a:t>1 / 8</a:t>
            </a:r>
          </a:p>
        </p:txBody>
      </p:sp>
    </p:spTree>
    <p:extLst>
      <p:ext uri="{BB962C8B-B14F-4D97-AF65-F5344CB8AC3E}">
        <p14:creationId xmlns:p14="http://schemas.microsoft.com/office/powerpoint/2010/main" val="3984690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0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FB50036-EF88-2B3B-FCBB-FC67FA771E6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23D62901-4670-65C3-DA52-CC60C3E642BE}"/>
              </a:ext>
            </a:extLst>
          </p:cNvPr>
          <p:cNvSpPr/>
          <p:nvPr/>
        </p:nvSpPr>
        <p:spPr>
          <a:xfrm>
            <a:off x="0" y="5410200"/>
            <a:ext cx="12192000" cy="1447800"/>
          </a:xfrm>
          <a:prstGeom prst="rect">
            <a:avLst/>
          </a:prstGeom>
          <a:solidFill>
            <a:srgbClr val="0D202D">
              <a:alpha val="9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0593EF7-A932-B20D-2C1A-64E1C5A52573}"/>
              </a:ext>
            </a:extLst>
          </p:cNvPr>
          <p:cNvSpPr/>
          <p:nvPr/>
        </p:nvSpPr>
        <p:spPr>
          <a:xfrm>
            <a:off x="482600" y="5651500"/>
            <a:ext cx="63500" cy="825500"/>
          </a:xfrm>
          <a:prstGeom prst="rect">
            <a:avLst/>
          </a:prstGeom>
          <a:solidFill>
            <a:srgbClr val="087E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5BD03B3-E3FA-5358-A004-A3716EA9554C}"/>
              </a:ext>
            </a:extLst>
          </p:cNvPr>
          <p:cNvSpPr txBox="1"/>
          <p:nvPr/>
        </p:nvSpPr>
        <p:spPr>
          <a:xfrm>
            <a:off x="749300" y="5613400"/>
            <a:ext cx="1079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DDF1EA"/>
                </a:solidFill>
                <a:latin typeface="Aptos" panose="020B0004020202020204" pitchFamily="34" charset="0"/>
              </a:rPr>
              <a:t>01 · VISÃO GERAL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C334D60-FDF3-05C8-809A-07E42FE68FDE}"/>
              </a:ext>
            </a:extLst>
          </p:cNvPr>
          <p:cNvSpPr txBox="1"/>
          <p:nvPr/>
        </p:nvSpPr>
        <p:spPr>
          <a:xfrm>
            <a:off x="749300" y="5892800"/>
            <a:ext cx="108966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>
                <a:solidFill>
                  <a:srgbClr val="FFFFFF"/>
                </a:solidFill>
                <a:latin typeface="Aptos" panose="020B0004020202020204" pitchFamily="34" charset="0"/>
              </a:rPr>
              <a:t>Sessão demonstrativa em Curitiba. O assistente conecta perguntas aos dados do município; cálculos continuam no backend e a tela deixa explícito que a base é sintética.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DADC9C0-6812-1F30-AB9D-8494356D2E1E}"/>
              </a:ext>
            </a:extLst>
          </p:cNvPr>
          <p:cNvSpPr txBox="1"/>
          <p:nvPr/>
        </p:nvSpPr>
        <p:spPr>
          <a:xfrm>
            <a:off x="11290300" y="203200"/>
            <a:ext cx="5715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00">
                <a:solidFill>
                  <a:srgbClr val="FFFFFF"/>
                </a:solidFill>
                <a:latin typeface="Aptos" panose="020B0004020202020204" pitchFamily="34" charset="0"/>
              </a:rPr>
              <a:t>2 / 8</a:t>
            </a:r>
          </a:p>
        </p:txBody>
      </p:sp>
    </p:spTree>
    <p:extLst>
      <p:ext uri="{BB962C8B-B14F-4D97-AF65-F5344CB8AC3E}">
        <p14:creationId xmlns:p14="http://schemas.microsoft.com/office/powerpoint/2010/main" val="933029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0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52617F1-5B30-DE93-24E5-612879E78C7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CD2D67DC-41E0-8BF6-92D7-1C100240D48E}"/>
              </a:ext>
            </a:extLst>
          </p:cNvPr>
          <p:cNvSpPr/>
          <p:nvPr/>
        </p:nvSpPr>
        <p:spPr>
          <a:xfrm>
            <a:off x="0" y="5410200"/>
            <a:ext cx="12192000" cy="1447800"/>
          </a:xfrm>
          <a:prstGeom prst="rect">
            <a:avLst/>
          </a:prstGeom>
          <a:solidFill>
            <a:srgbClr val="0D202D">
              <a:alpha val="9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DF29BDB-FD12-4A6C-E2DA-D0B071910A7D}"/>
              </a:ext>
            </a:extLst>
          </p:cNvPr>
          <p:cNvSpPr/>
          <p:nvPr/>
        </p:nvSpPr>
        <p:spPr>
          <a:xfrm>
            <a:off x="482600" y="5651500"/>
            <a:ext cx="63500" cy="825500"/>
          </a:xfrm>
          <a:prstGeom prst="rect">
            <a:avLst/>
          </a:prstGeom>
          <a:solidFill>
            <a:srgbClr val="087E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73B294E-723A-6132-1357-5E62BDC9DEF2}"/>
              </a:ext>
            </a:extLst>
          </p:cNvPr>
          <p:cNvSpPr txBox="1"/>
          <p:nvPr/>
        </p:nvSpPr>
        <p:spPr>
          <a:xfrm>
            <a:off x="749300" y="5613400"/>
            <a:ext cx="1079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DDF1EA"/>
                </a:solidFill>
                <a:latin typeface="Aptos" panose="020B0004020202020204" pitchFamily="34" charset="0"/>
              </a:rPr>
              <a:t>02 · RELATÓRIO VERIFICÁVEL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A7775E7-BD93-3E2A-584D-0725F626A781}"/>
              </a:ext>
            </a:extLst>
          </p:cNvPr>
          <p:cNvSpPr txBox="1"/>
          <p:nvPr/>
        </p:nvSpPr>
        <p:spPr>
          <a:xfrm>
            <a:off x="749300" y="5892800"/>
            <a:ext cx="108966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>
                <a:solidFill>
                  <a:srgbClr val="FFFFFF"/>
                </a:solidFill>
                <a:latin typeface="Aptos" panose="020B0004020202020204" pitchFamily="34" charset="0"/>
              </a:rPr>
              <a:t>A tabela compara despesas pagas e mostra a memória numérica. Nesta execução real, o Qwen não concluiu; o app preservou os cálculos e exibiu o fallback determinístico.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4A35A39-AD5A-7CB7-943C-43B71A126C76}"/>
              </a:ext>
            </a:extLst>
          </p:cNvPr>
          <p:cNvSpPr txBox="1"/>
          <p:nvPr/>
        </p:nvSpPr>
        <p:spPr>
          <a:xfrm>
            <a:off x="11290300" y="203200"/>
            <a:ext cx="5715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00">
                <a:solidFill>
                  <a:srgbClr val="FFFFFF"/>
                </a:solidFill>
                <a:latin typeface="Aptos" panose="020B0004020202020204" pitchFamily="34" charset="0"/>
              </a:rPr>
              <a:t>3 / 8</a:t>
            </a:r>
          </a:p>
        </p:txBody>
      </p:sp>
    </p:spTree>
    <p:extLst>
      <p:ext uri="{BB962C8B-B14F-4D97-AF65-F5344CB8AC3E}">
        <p14:creationId xmlns:p14="http://schemas.microsoft.com/office/powerpoint/2010/main" val="1783342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0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0033CCF-8E4A-446D-DB63-C8B320809F4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11D6CEA5-4794-0830-6384-47A8B86AF394}"/>
              </a:ext>
            </a:extLst>
          </p:cNvPr>
          <p:cNvSpPr/>
          <p:nvPr/>
        </p:nvSpPr>
        <p:spPr>
          <a:xfrm>
            <a:off x="0" y="5410200"/>
            <a:ext cx="12192000" cy="1447800"/>
          </a:xfrm>
          <a:prstGeom prst="rect">
            <a:avLst/>
          </a:prstGeom>
          <a:solidFill>
            <a:srgbClr val="0D202D">
              <a:alpha val="9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8C44465-5DEF-B818-969C-AED6ED10D13E}"/>
              </a:ext>
            </a:extLst>
          </p:cNvPr>
          <p:cNvSpPr/>
          <p:nvPr/>
        </p:nvSpPr>
        <p:spPr>
          <a:xfrm>
            <a:off x="482600" y="5651500"/>
            <a:ext cx="63500" cy="825500"/>
          </a:xfrm>
          <a:prstGeom prst="rect">
            <a:avLst/>
          </a:prstGeom>
          <a:solidFill>
            <a:srgbClr val="087E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7E46697-AF63-03E5-4A01-FF53CDE5FFAD}"/>
              </a:ext>
            </a:extLst>
          </p:cNvPr>
          <p:cNvSpPr txBox="1"/>
          <p:nvPr/>
        </p:nvSpPr>
        <p:spPr>
          <a:xfrm>
            <a:off x="749300" y="5613400"/>
            <a:ext cx="1079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DDF1EA"/>
                </a:solidFill>
                <a:latin typeface="Aptos" panose="020B0004020202020204" pitchFamily="34" charset="0"/>
              </a:rPr>
              <a:t>03 · CONTROLE INTERNO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5355808-23AD-330E-3AB9-E9204D3D556C}"/>
              </a:ext>
            </a:extLst>
          </p:cNvPr>
          <p:cNvSpPr txBox="1"/>
          <p:nvPr/>
        </p:nvSpPr>
        <p:spPr>
          <a:xfrm>
            <a:off x="749300" y="5892800"/>
            <a:ext cx="108966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>
                <a:solidFill>
                  <a:srgbClr val="FFFFFF"/>
                </a:solidFill>
                <a:latin typeface="Aptos" panose="020B0004020202020204" pitchFamily="34" charset="0"/>
              </a:rPr>
              <a:t>Regras determinísticas apontam possíveis duplicidades para revisão humana. Um achado é um pedido de análise, não uma conclusão de fraude.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436B11A-5D38-B79C-EC25-D76BFF1FAD42}"/>
              </a:ext>
            </a:extLst>
          </p:cNvPr>
          <p:cNvSpPr txBox="1"/>
          <p:nvPr/>
        </p:nvSpPr>
        <p:spPr>
          <a:xfrm>
            <a:off x="11290300" y="203200"/>
            <a:ext cx="5715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00">
                <a:solidFill>
                  <a:srgbClr val="FFFFFF"/>
                </a:solidFill>
                <a:latin typeface="Aptos" panose="020B0004020202020204" pitchFamily="34" charset="0"/>
              </a:rPr>
              <a:t>4 / 8</a:t>
            </a:r>
          </a:p>
        </p:txBody>
      </p:sp>
    </p:spTree>
    <p:extLst>
      <p:ext uri="{BB962C8B-B14F-4D97-AF65-F5344CB8AC3E}">
        <p14:creationId xmlns:p14="http://schemas.microsoft.com/office/powerpoint/2010/main" val="3316951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0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175D5CF-937D-AEF0-0E58-A63A1437EA4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9136D75-AC0C-14DB-84CE-FA573F7002A9}"/>
              </a:ext>
            </a:extLst>
          </p:cNvPr>
          <p:cNvSpPr/>
          <p:nvPr/>
        </p:nvSpPr>
        <p:spPr>
          <a:xfrm>
            <a:off x="0" y="5410200"/>
            <a:ext cx="12192000" cy="1447800"/>
          </a:xfrm>
          <a:prstGeom prst="rect">
            <a:avLst/>
          </a:prstGeom>
          <a:solidFill>
            <a:srgbClr val="0D202D">
              <a:alpha val="9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9A79D45-9EE1-C952-36A3-BE74E3220D8E}"/>
              </a:ext>
            </a:extLst>
          </p:cNvPr>
          <p:cNvSpPr/>
          <p:nvPr/>
        </p:nvSpPr>
        <p:spPr>
          <a:xfrm>
            <a:off x="482600" y="5651500"/>
            <a:ext cx="63500" cy="825500"/>
          </a:xfrm>
          <a:prstGeom prst="rect">
            <a:avLst/>
          </a:prstGeom>
          <a:solidFill>
            <a:srgbClr val="087E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D138342-1146-5040-306A-B66F52F25305}"/>
              </a:ext>
            </a:extLst>
          </p:cNvPr>
          <p:cNvSpPr txBox="1"/>
          <p:nvPr/>
        </p:nvSpPr>
        <p:spPr>
          <a:xfrm>
            <a:off x="749300" y="5613400"/>
            <a:ext cx="1079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DDF1EA"/>
                </a:solidFill>
                <a:latin typeface="Aptos" panose="020B0004020202020204" pitchFamily="34" charset="0"/>
              </a:rPr>
              <a:t>04 · COMPETITIVIDADE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6951E27-F5A9-1320-C81F-FDE247E910EF}"/>
              </a:ext>
            </a:extLst>
          </p:cNvPr>
          <p:cNvSpPr txBox="1"/>
          <p:nvPr/>
        </p:nvSpPr>
        <p:spPr>
          <a:xfrm>
            <a:off x="749300" y="5892800"/>
            <a:ext cx="108966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>
                <a:solidFill>
                  <a:srgbClr val="FFFFFF"/>
                </a:solidFill>
                <a:latin typeface="Aptos" panose="020B0004020202020204" pitchFamily="34" charset="0"/>
              </a:rPr>
              <a:t>A aplicação exibe notas e posições publicadas pelo CLP 2026, com proveniência. Ela não recalcula o ranking; municípios fora do recorte aparecem indisponíveis.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9E3AB72-0F8C-1FC4-B079-897593FE4472}"/>
              </a:ext>
            </a:extLst>
          </p:cNvPr>
          <p:cNvSpPr txBox="1"/>
          <p:nvPr/>
        </p:nvSpPr>
        <p:spPr>
          <a:xfrm>
            <a:off x="11290300" y="203200"/>
            <a:ext cx="5715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00">
                <a:solidFill>
                  <a:srgbClr val="FFFFFF"/>
                </a:solidFill>
                <a:latin typeface="Aptos" panose="020B0004020202020204" pitchFamily="34" charset="0"/>
              </a:rPr>
              <a:t>5 / 8</a:t>
            </a:r>
          </a:p>
        </p:txBody>
      </p:sp>
    </p:spTree>
    <p:extLst>
      <p:ext uri="{BB962C8B-B14F-4D97-AF65-F5344CB8AC3E}">
        <p14:creationId xmlns:p14="http://schemas.microsoft.com/office/powerpoint/2010/main" val="4285632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F7191B4-E7F4-E060-695B-ADC3636723DA}"/>
              </a:ext>
            </a:extLst>
          </p:cNvPr>
          <p:cNvSpPr txBox="1"/>
          <p:nvPr/>
        </p:nvSpPr>
        <p:spPr>
          <a:xfrm>
            <a:off x="558800" y="304800"/>
            <a:ext cx="10795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100" b="1">
                <a:solidFill>
                  <a:srgbClr val="087E64"/>
                </a:solidFill>
                <a:latin typeface="Aptos" panose="020B0004020202020204" pitchFamily="34" charset="0"/>
              </a:rPr>
              <a:t>05 · ESCALA DE DADOS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8803172-D7FD-B4C8-FE55-947B3859B617}"/>
              </a:ext>
            </a:extLst>
          </p:cNvPr>
          <p:cNvSpPr txBox="1"/>
          <p:nvPr/>
        </p:nvSpPr>
        <p:spPr>
          <a:xfrm>
            <a:off x="558800" y="609600"/>
            <a:ext cx="11049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600" b="1">
                <a:solidFill>
                  <a:srgbClr val="182B36"/>
                </a:solidFill>
                <a:latin typeface="Aptos" panose="020B0004020202020204" pitchFamily="34" charset="0"/>
              </a:rPr>
              <a:t>O que muda de 10 para 100 municípios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5A1A3BC0-D802-2C11-0857-C0DC426D62F2}"/>
              </a:ext>
            </a:extLst>
          </p:cNvPr>
          <p:cNvSpPr/>
          <p:nvPr/>
        </p:nvSpPr>
        <p:spPr>
          <a:xfrm>
            <a:off x="558800" y="1803400"/>
            <a:ext cx="2463800" cy="20066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86F4186-AEDC-0C4F-4082-86EFE5A386E4}"/>
              </a:ext>
            </a:extLst>
          </p:cNvPr>
          <p:cNvSpPr txBox="1"/>
          <p:nvPr/>
        </p:nvSpPr>
        <p:spPr>
          <a:xfrm>
            <a:off x="762000" y="2032000"/>
            <a:ext cx="2057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087E64"/>
                </a:solidFill>
                <a:latin typeface="Aptos" panose="020B0004020202020204" pitchFamily="34" charset="0"/>
              </a:rPr>
              <a:t>MUNICÍPIOS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9583D66-CAAE-F1DA-71E2-3BCD1F33ABF2}"/>
              </a:ext>
            </a:extLst>
          </p:cNvPr>
          <p:cNvSpPr txBox="1"/>
          <p:nvPr/>
        </p:nvSpPr>
        <p:spPr>
          <a:xfrm>
            <a:off x="762000" y="2489200"/>
            <a:ext cx="20828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200" b="1">
                <a:solidFill>
                  <a:srgbClr val="182B36"/>
                </a:solidFill>
                <a:latin typeface="Aptos" panose="020B0004020202020204" pitchFamily="34" charset="0"/>
              </a:rPr>
              <a:t>10 → 100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0C89D3F-CDAD-6385-C816-36C88BE659E8}"/>
              </a:ext>
            </a:extLst>
          </p:cNvPr>
          <p:cNvSpPr txBox="1"/>
          <p:nvPr/>
        </p:nvSpPr>
        <p:spPr>
          <a:xfrm>
            <a:off x="762000" y="3098800"/>
            <a:ext cx="20828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>
                <a:solidFill>
                  <a:srgbClr val="586D76"/>
                </a:solidFill>
                <a:latin typeface="Aptos" panose="020B0004020202020204" pitchFamily="34" charset="0"/>
              </a:rPr>
              <a:t>10× identidades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E529B61-A872-1FB4-5502-A534ECEB40C6}"/>
              </a:ext>
            </a:extLst>
          </p:cNvPr>
          <p:cNvSpPr/>
          <p:nvPr/>
        </p:nvSpPr>
        <p:spPr>
          <a:xfrm>
            <a:off x="3429000" y="1803400"/>
            <a:ext cx="2463800" cy="20066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7BD2CE9-CEFE-F3B3-117A-1C2C412C4011}"/>
              </a:ext>
            </a:extLst>
          </p:cNvPr>
          <p:cNvSpPr txBox="1"/>
          <p:nvPr/>
        </p:nvSpPr>
        <p:spPr>
          <a:xfrm>
            <a:off x="3632200" y="2032000"/>
            <a:ext cx="2057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087E64"/>
                </a:solidFill>
                <a:latin typeface="Aptos" panose="020B0004020202020204" pitchFamily="34" charset="0"/>
              </a:rPr>
              <a:t>LANÇAMENTOS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0453C82-75E3-5F8B-1432-377747E75FC4}"/>
              </a:ext>
            </a:extLst>
          </p:cNvPr>
          <p:cNvSpPr txBox="1"/>
          <p:nvPr/>
        </p:nvSpPr>
        <p:spPr>
          <a:xfrm>
            <a:off x="3632200" y="2489200"/>
            <a:ext cx="20828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200" b="1">
                <a:solidFill>
                  <a:srgbClr val="182B36"/>
                </a:solidFill>
                <a:latin typeface="Aptos" panose="020B0004020202020204" pitchFamily="34" charset="0"/>
              </a:rPr>
              <a:t>148k → 200k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C28DE28-A967-3F83-A44E-A699D3565AF8}"/>
              </a:ext>
            </a:extLst>
          </p:cNvPr>
          <p:cNvSpPr txBox="1"/>
          <p:nvPr/>
        </p:nvSpPr>
        <p:spPr>
          <a:xfrm>
            <a:off x="3632200" y="3098800"/>
            <a:ext cx="20828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>
                <a:solidFill>
                  <a:srgbClr val="586D76"/>
                </a:solidFill>
                <a:latin typeface="Aptos" panose="020B0004020202020204" pitchFamily="34" charset="0"/>
              </a:rPr>
              <a:t>1,35× linhas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9805717A-42DD-793A-1142-771C6F8DB226}"/>
              </a:ext>
            </a:extLst>
          </p:cNvPr>
          <p:cNvSpPr/>
          <p:nvPr/>
        </p:nvSpPr>
        <p:spPr>
          <a:xfrm>
            <a:off x="6299200" y="1803400"/>
            <a:ext cx="2463800" cy="20066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FEBEB68-7AEC-BBC2-F258-F2B187F3E2DA}"/>
              </a:ext>
            </a:extLst>
          </p:cNvPr>
          <p:cNvSpPr txBox="1"/>
          <p:nvPr/>
        </p:nvSpPr>
        <p:spPr>
          <a:xfrm>
            <a:off x="6502400" y="2032000"/>
            <a:ext cx="2057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087E64"/>
                </a:solidFill>
                <a:latin typeface="Aptos" panose="020B0004020202020204" pitchFamily="34" charset="0"/>
              </a:rPr>
              <a:t>DOCUMENTOS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FD7C341-E45F-E90C-B995-7A40B2CF42C2}"/>
              </a:ext>
            </a:extLst>
          </p:cNvPr>
          <p:cNvSpPr txBox="1"/>
          <p:nvPr/>
        </p:nvSpPr>
        <p:spPr>
          <a:xfrm>
            <a:off x="6502400" y="2489200"/>
            <a:ext cx="20828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200" b="1">
                <a:solidFill>
                  <a:srgbClr val="182B36"/>
                </a:solidFill>
                <a:latin typeface="Aptos" panose="020B0004020202020204" pitchFamily="34" charset="0"/>
              </a:rPr>
              <a:t>1.120 → 3.000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0849195-F475-3981-45C3-9EB90E2588D7}"/>
              </a:ext>
            </a:extLst>
          </p:cNvPr>
          <p:cNvSpPr txBox="1"/>
          <p:nvPr/>
        </p:nvSpPr>
        <p:spPr>
          <a:xfrm>
            <a:off x="6502400" y="3098800"/>
            <a:ext cx="20828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>
                <a:solidFill>
                  <a:srgbClr val="586D76"/>
                </a:solidFill>
                <a:latin typeface="Aptos" panose="020B0004020202020204" pitchFamily="34" charset="0"/>
              </a:rPr>
              <a:t>2,68× documentos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F4806DCB-9A1D-1178-945A-132243DD1518}"/>
              </a:ext>
            </a:extLst>
          </p:cNvPr>
          <p:cNvSpPr/>
          <p:nvPr/>
        </p:nvSpPr>
        <p:spPr>
          <a:xfrm>
            <a:off x="9169400" y="1803400"/>
            <a:ext cx="2463800" cy="20066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218E0534-B07A-2FE4-794D-02B6A5C9479F}"/>
              </a:ext>
            </a:extLst>
          </p:cNvPr>
          <p:cNvSpPr txBox="1"/>
          <p:nvPr/>
        </p:nvSpPr>
        <p:spPr>
          <a:xfrm>
            <a:off x="9372600" y="2032000"/>
            <a:ext cx="2057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087E64"/>
                </a:solidFill>
                <a:latin typeface="Aptos" panose="020B0004020202020204" pitchFamily="34" charset="0"/>
              </a:rPr>
              <a:t>BANCO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D7D9E533-AC31-2791-39FD-CFDDCE197995}"/>
              </a:ext>
            </a:extLst>
          </p:cNvPr>
          <p:cNvSpPr txBox="1"/>
          <p:nvPr/>
        </p:nvSpPr>
        <p:spPr>
          <a:xfrm>
            <a:off x="9372600" y="2489200"/>
            <a:ext cx="20828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200" b="1">
                <a:solidFill>
                  <a:srgbClr val="182B36"/>
                </a:solidFill>
                <a:latin typeface="Aptos" panose="020B0004020202020204" pitchFamily="34" charset="0"/>
              </a:rPr>
              <a:t>55,36 → 74,62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387FF25D-7C41-EAEE-BEA3-2876F0E1324F}"/>
              </a:ext>
            </a:extLst>
          </p:cNvPr>
          <p:cNvSpPr txBox="1"/>
          <p:nvPr/>
        </p:nvSpPr>
        <p:spPr>
          <a:xfrm>
            <a:off x="9372600" y="3098800"/>
            <a:ext cx="20828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>
                <a:solidFill>
                  <a:srgbClr val="586D76"/>
                </a:solidFill>
                <a:latin typeface="Aptos" panose="020B0004020202020204" pitchFamily="34" charset="0"/>
              </a:rPr>
              <a:t>MiB · +35%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0041CE61-3E15-65F5-B8BE-7C6693F92557}"/>
              </a:ext>
            </a:extLst>
          </p:cNvPr>
          <p:cNvSpPr/>
          <p:nvPr/>
        </p:nvSpPr>
        <p:spPr>
          <a:xfrm>
            <a:off x="558800" y="4191000"/>
            <a:ext cx="11074400" cy="1193800"/>
          </a:xfrm>
          <a:prstGeom prst="roundRect">
            <a:avLst/>
          </a:prstGeom>
          <a:solidFill>
            <a:srgbClr val="DDF1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EF23F6C0-EDC4-41BF-4AF8-3BFB7240B1DA}"/>
              </a:ext>
            </a:extLst>
          </p:cNvPr>
          <p:cNvSpPr txBox="1"/>
          <p:nvPr/>
        </p:nvSpPr>
        <p:spPr>
          <a:xfrm>
            <a:off x="812800" y="4406900"/>
            <a:ext cx="10541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100" b="1">
                <a:solidFill>
                  <a:srgbClr val="182B36"/>
                </a:solidFill>
                <a:latin typeface="Aptos" panose="020B0004020202020204" pitchFamily="34" charset="0"/>
              </a:rPr>
              <a:t>34,85 s para gerar a carga de 100 municípios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8DCB79EB-C5B9-73EC-9E94-EB422E098B22}"/>
              </a:ext>
            </a:extLst>
          </p:cNvPr>
          <p:cNvSpPr txBox="1"/>
          <p:nvPr/>
        </p:nvSpPr>
        <p:spPr>
          <a:xfrm>
            <a:off x="812800" y="4864100"/>
            <a:ext cx="10414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>
                <a:solidFill>
                  <a:srgbClr val="586D76"/>
                </a:solidFill>
                <a:latin typeface="Aptos" panose="020B0004020202020204" pitchFamily="34" charset="0"/>
              </a:rPr>
              <a:t>Amostra local: 200 mil linhas e 3 mil documentos. Não representa concorrência nem carga de produção.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E5B39C60-977B-5325-C0A7-C27D9DA0B540}"/>
              </a:ext>
            </a:extLst>
          </p:cNvPr>
          <p:cNvSpPr txBox="1"/>
          <p:nvPr/>
        </p:nvSpPr>
        <p:spPr>
          <a:xfrm>
            <a:off x="11290300" y="203200"/>
            <a:ext cx="5715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00">
                <a:solidFill>
                  <a:srgbClr val="586D76"/>
                </a:solidFill>
                <a:latin typeface="Aptos" panose="020B0004020202020204" pitchFamily="34" charset="0"/>
              </a:rPr>
              <a:t>6 / 8</a:t>
            </a:r>
          </a:p>
        </p:txBody>
      </p:sp>
    </p:spTree>
    <p:extLst>
      <p:ext uri="{BB962C8B-B14F-4D97-AF65-F5344CB8AC3E}">
        <p14:creationId xmlns:p14="http://schemas.microsoft.com/office/powerpoint/2010/main" val="2188437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75273FA-21A7-7DDE-2002-A875ABA580D5}"/>
              </a:ext>
            </a:extLst>
          </p:cNvPr>
          <p:cNvSpPr txBox="1"/>
          <p:nvPr/>
        </p:nvSpPr>
        <p:spPr>
          <a:xfrm>
            <a:off x="558800" y="304800"/>
            <a:ext cx="10795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100" b="1">
                <a:solidFill>
                  <a:srgbClr val="087E64"/>
                </a:solidFill>
                <a:latin typeface="Aptos" panose="020B0004020202020204" pitchFamily="34" charset="0"/>
              </a:rPr>
              <a:t>06 · QUALIDADE E LATÊNCIA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06E4022-E779-F173-F241-B9795286D8E7}"/>
              </a:ext>
            </a:extLst>
          </p:cNvPr>
          <p:cNvSpPr txBox="1"/>
          <p:nvPr/>
        </p:nvSpPr>
        <p:spPr>
          <a:xfrm>
            <a:off x="558800" y="609600"/>
            <a:ext cx="11049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600" b="1">
                <a:solidFill>
                  <a:srgbClr val="182B36"/>
                </a:solidFill>
                <a:latin typeface="Aptos" panose="020B0004020202020204" pitchFamily="34" charset="0"/>
              </a:rPr>
              <a:t>Qwen3:4b local — avaliação exploratória reprovada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369AC7CE-0C48-B57E-87D8-1E25D054D4A0}"/>
              </a:ext>
            </a:extLst>
          </p:cNvPr>
          <p:cNvSpPr/>
          <p:nvPr/>
        </p:nvSpPr>
        <p:spPr>
          <a:xfrm>
            <a:off x="685800" y="1828800"/>
            <a:ext cx="3327400" cy="15748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D957DF8-90EC-9392-7204-515D3108CDEE}"/>
              </a:ext>
            </a:extLst>
          </p:cNvPr>
          <p:cNvSpPr txBox="1"/>
          <p:nvPr/>
        </p:nvSpPr>
        <p:spPr>
          <a:xfrm>
            <a:off x="914400" y="2019300"/>
            <a:ext cx="28702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3100" b="1">
                <a:solidFill>
                  <a:srgbClr val="A4333D"/>
                </a:solidFill>
                <a:latin typeface="Aptos" panose="020B0004020202020204" pitchFamily="34" charset="0"/>
              </a:rPr>
              <a:t>67,2 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5206C55-D950-D366-4E27-9350E208A5DE}"/>
              </a:ext>
            </a:extLst>
          </p:cNvPr>
          <p:cNvSpPr txBox="1"/>
          <p:nvPr/>
        </p:nvSpPr>
        <p:spPr>
          <a:xfrm>
            <a:off x="914400" y="2679700"/>
            <a:ext cx="2870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>
                <a:solidFill>
                  <a:srgbClr val="586D76"/>
                </a:solidFill>
                <a:latin typeface="Aptos" panose="020B0004020202020204" pitchFamily="34" charset="0"/>
              </a:rPr>
              <a:t>até o fallback da API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CD104400-31BF-E3F5-C45D-71E241DF6AD4}"/>
              </a:ext>
            </a:extLst>
          </p:cNvPr>
          <p:cNvSpPr/>
          <p:nvPr/>
        </p:nvSpPr>
        <p:spPr>
          <a:xfrm>
            <a:off x="4597400" y="1828800"/>
            <a:ext cx="3327400" cy="15748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9832C87-11DB-3288-9FC9-42EB000EA236}"/>
              </a:ext>
            </a:extLst>
          </p:cNvPr>
          <p:cNvSpPr txBox="1"/>
          <p:nvPr/>
        </p:nvSpPr>
        <p:spPr>
          <a:xfrm>
            <a:off x="4826000" y="2019300"/>
            <a:ext cx="28702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3100" b="1">
                <a:solidFill>
                  <a:srgbClr val="A4333D"/>
                </a:solidFill>
                <a:latin typeface="Aptos" panose="020B0004020202020204" pitchFamily="34" charset="0"/>
              </a:rPr>
              <a:t>0 / 3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ABB476E-159C-ACEE-4D0D-E665E9F5FF57}"/>
              </a:ext>
            </a:extLst>
          </p:cNvPr>
          <p:cNvSpPr txBox="1"/>
          <p:nvPr/>
        </p:nvSpPr>
        <p:spPr>
          <a:xfrm>
            <a:off x="4826000" y="2679700"/>
            <a:ext cx="2870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>
                <a:solidFill>
                  <a:srgbClr val="586D76"/>
                </a:solidFill>
                <a:latin typeface="Aptos" panose="020B0004020202020204" pitchFamily="34" charset="0"/>
              </a:rPr>
              <a:t>explicações aceitas estritamente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83816D6D-46D5-2C0C-E43D-131E7C2DCDE9}"/>
              </a:ext>
            </a:extLst>
          </p:cNvPr>
          <p:cNvSpPr/>
          <p:nvPr/>
        </p:nvSpPr>
        <p:spPr>
          <a:xfrm>
            <a:off x="8509000" y="1828800"/>
            <a:ext cx="3327400" cy="15748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A4305F5-27A6-8962-A9B5-703E5247E491}"/>
              </a:ext>
            </a:extLst>
          </p:cNvPr>
          <p:cNvSpPr txBox="1"/>
          <p:nvPr/>
        </p:nvSpPr>
        <p:spPr>
          <a:xfrm>
            <a:off x="8737600" y="2019300"/>
            <a:ext cx="28702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3100" b="1">
                <a:solidFill>
                  <a:srgbClr val="A4333D"/>
                </a:solidFill>
                <a:latin typeface="Aptos" panose="020B0004020202020204" pitchFamily="34" charset="0"/>
              </a:rPr>
              <a:t>1 / 3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0158FCC-1B3A-9E69-083D-1646E6DA6B20}"/>
              </a:ext>
            </a:extLst>
          </p:cNvPr>
          <p:cNvSpPr txBox="1"/>
          <p:nvPr/>
        </p:nvSpPr>
        <p:spPr>
          <a:xfrm>
            <a:off x="8737600" y="2679700"/>
            <a:ext cx="2870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>
                <a:solidFill>
                  <a:srgbClr val="586D76"/>
                </a:solidFill>
                <a:latin typeface="Aptos" panose="020B0004020202020204" pitchFamily="34" charset="0"/>
              </a:rPr>
              <a:t>comparações numéricas corretas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76A129CF-73A8-024D-2773-CC2CD34387E2}"/>
              </a:ext>
            </a:extLst>
          </p:cNvPr>
          <p:cNvSpPr/>
          <p:nvPr/>
        </p:nvSpPr>
        <p:spPr>
          <a:xfrm>
            <a:off x="685800" y="3733800"/>
            <a:ext cx="11150600" cy="1447800"/>
          </a:xfrm>
          <a:prstGeom prst="roundRect">
            <a:avLst/>
          </a:prstGeom>
          <a:solidFill>
            <a:srgbClr val="F9E7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C4518030-7163-D223-C7E3-A102EF27A82B}"/>
              </a:ext>
            </a:extLst>
          </p:cNvPr>
          <p:cNvSpPr txBox="1"/>
          <p:nvPr/>
        </p:nvSpPr>
        <p:spPr>
          <a:xfrm>
            <a:off x="939800" y="39497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b="1">
                <a:solidFill>
                  <a:srgbClr val="A4333D"/>
                </a:solidFill>
                <a:latin typeface="Aptos" panose="020B0004020202020204" pitchFamily="34" charset="0"/>
              </a:rPr>
              <a:t>Falha crítica observada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71E0A12D-3DB6-567B-3F4B-B553B2ADAEDE}"/>
              </a:ext>
            </a:extLst>
          </p:cNvPr>
          <p:cNvSpPr txBox="1"/>
          <p:nvPr/>
        </p:nvSpPr>
        <p:spPr>
          <a:xfrm>
            <a:off x="939800" y="4381500"/>
            <a:ext cx="1041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400">
                <a:solidFill>
                  <a:srgbClr val="182B36"/>
                </a:solidFill>
                <a:latin typeface="Aptos" panose="020B0004020202020204" pitchFamily="34" charset="0"/>
              </a:rPr>
              <a:t>O modelo obedeceu uma instrução injetada e inventou uma lei vigente e um canal. Ollama rodou em CPU; p95 ainda não medido.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75F68C22-9AA0-17DC-803A-898705EC203A}"/>
              </a:ext>
            </a:extLst>
          </p:cNvPr>
          <p:cNvSpPr txBox="1"/>
          <p:nvPr/>
        </p:nvSpPr>
        <p:spPr>
          <a:xfrm>
            <a:off x="685800" y="5549900"/>
            <a:ext cx="10922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400" b="1">
                <a:solidFill>
                  <a:srgbClr val="182B36"/>
                </a:solidFill>
                <a:latin typeface="Aptos" panose="020B0004020202020204" pitchFamily="34" charset="0"/>
              </a:rPr>
              <a:t>Cálculos, permissões e decisões permanecem determinísticos. Não usar o Qwen para afirmar vigência ou orientar ação administrativa.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71441824-E3A8-2939-EF16-02AD53C2EC4E}"/>
              </a:ext>
            </a:extLst>
          </p:cNvPr>
          <p:cNvSpPr txBox="1"/>
          <p:nvPr/>
        </p:nvSpPr>
        <p:spPr>
          <a:xfrm>
            <a:off x="11290300" y="203200"/>
            <a:ext cx="5715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00">
                <a:solidFill>
                  <a:srgbClr val="586D76"/>
                </a:solidFill>
                <a:latin typeface="Aptos" panose="020B0004020202020204" pitchFamily="34" charset="0"/>
              </a:rPr>
              <a:t>7 / 8</a:t>
            </a:r>
          </a:p>
        </p:txBody>
      </p:sp>
    </p:spTree>
    <p:extLst>
      <p:ext uri="{BB962C8B-B14F-4D97-AF65-F5344CB8AC3E}">
        <p14:creationId xmlns:p14="http://schemas.microsoft.com/office/powerpoint/2010/main" val="7166022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0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C57C12B-3500-0080-1B6E-BF3AEC8585AF}"/>
              </a:ext>
            </a:extLst>
          </p:cNvPr>
          <p:cNvSpPr/>
          <p:nvPr/>
        </p:nvSpPr>
        <p:spPr>
          <a:xfrm>
            <a:off x="863600" y="1016000"/>
            <a:ext cx="101600" cy="4800600"/>
          </a:xfrm>
          <a:prstGeom prst="rect">
            <a:avLst/>
          </a:prstGeom>
          <a:solidFill>
            <a:srgbClr val="087E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DEBF0BA-F6B3-6CC3-C0F9-FB500EB78024}"/>
              </a:ext>
            </a:extLst>
          </p:cNvPr>
          <p:cNvSpPr txBox="1"/>
          <p:nvPr/>
        </p:nvSpPr>
        <p:spPr>
          <a:xfrm>
            <a:off x="1270000" y="1181100"/>
            <a:ext cx="9906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 b="1">
                <a:solidFill>
                  <a:srgbClr val="DDF1EA"/>
                </a:solidFill>
                <a:latin typeface="Aptos" panose="020B0004020202020204" pitchFamily="34" charset="0"/>
              </a:rPr>
              <a:t>GOVERP AI LAB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A6777B2-9684-5872-F392-EFD63EC53333}"/>
              </a:ext>
            </a:extLst>
          </p:cNvPr>
          <p:cNvSpPr txBox="1"/>
          <p:nvPr/>
        </p:nvSpPr>
        <p:spPr>
          <a:xfrm>
            <a:off x="1270000" y="1778000"/>
            <a:ext cx="10033000" cy="95410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3100" b="1">
                <a:solidFill>
                  <a:srgbClr val="FFFFFF"/>
                </a:solidFill>
                <a:latin typeface="Aptos" panose="020B0004020202020204" pitchFamily="34" charset="0"/>
              </a:rPr>
              <a:t>A evidência dirige a decisão.\nA pessoa revisa o que exige julgamento.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836AE46-B1E2-A38B-385F-826813E682CE}"/>
              </a:ext>
            </a:extLst>
          </p:cNvPr>
          <p:cNvSpPr txBox="1"/>
          <p:nvPr/>
        </p:nvSpPr>
        <p:spPr>
          <a:xfrm>
            <a:off x="1270000" y="3683000"/>
            <a:ext cx="4445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400" b="1">
                <a:solidFill>
                  <a:srgbClr val="DDF1EA"/>
                </a:solidFill>
                <a:latin typeface="Aptos" panose="020B0004020202020204" pitchFamily="34" charset="0"/>
              </a:rPr>
              <a:t>Próximos passos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8290AA2-D16F-00CB-2A45-598458B11AF9}"/>
              </a:ext>
            </a:extLst>
          </p:cNvPr>
          <p:cNvSpPr txBox="1"/>
          <p:nvPr/>
        </p:nvSpPr>
        <p:spPr>
          <a:xfrm>
            <a:off x="1270000" y="4140200"/>
            <a:ext cx="10033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700">
                <a:solidFill>
                  <a:srgbClr val="FFFFFF"/>
                </a:solidFill>
                <a:latin typeface="Aptos" panose="020B0004020202020204" pitchFamily="34" charset="0"/>
              </a:rPr>
              <a:t>Corrigir saída/truncamento · repetir holdout · validar segurança e latência · revisão humana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A6D81FF-30D5-7B00-A9D3-8C0E0F7C8B28}"/>
              </a:ext>
            </a:extLst>
          </p:cNvPr>
          <p:cNvSpPr txBox="1"/>
          <p:nvPr/>
        </p:nvSpPr>
        <p:spPr>
          <a:xfrm>
            <a:off x="1270000" y="5486400"/>
            <a:ext cx="9779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>
                <a:solidFill>
                  <a:srgbClr val="DDF1EA"/>
                </a:solidFill>
                <a:latin typeface="Aptos" panose="020B0004020202020204" pitchFamily="34" charset="0"/>
              </a:rPr>
              <a:t>Demonstração local · dados sintéticos · sem publicação externa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68D3C6D-16E8-B3DD-BDF1-8B63D93F6132}"/>
              </a:ext>
            </a:extLst>
          </p:cNvPr>
          <p:cNvSpPr txBox="1"/>
          <p:nvPr/>
        </p:nvSpPr>
        <p:spPr>
          <a:xfrm>
            <a:off x="11290300" y="203200"/>
            <a:ext cx="5715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00">
                <a:solidFill>
                  <a:srgbClr val="FFFFFF"/>
                </a:solidFill>
                <a:latin typeface="Aptos" panose="020B0004020202020204" pitchFamily="34" charset="0"/>
              </a:rPr>
              <a:t>8 / 8</a:t>
            </a:r>
          </a:p>
        </p:txBody>
      </p:sp>
    </p:spTree>
    <p:extLst>
      <p:ext uri="{BB962C8B-B14F-4D97-AF65-F5344CB8AC3E}">
        <p14:creationId xmlns:p14="http://schemas.microsoft.com/office/powerpoint/2010/main" val="127405221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363</Words>
  <Application>Microsoft Office PowerPoint</Application>
  <PresentationFormat>Personalizar</PresentationFormat>
  <Paragraphs>52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marcos netto</dc:creator>
  <cp:lastModifiedBy>marcos netto</cp:lastModifiedBy>
  <cp:revision>1</cp:revision>
  <dcterms:created xsi:type="dcterms:W3CDTF">2026-10-07T18:30:13Z</dcterms:created>
  <dcterms:modified xsi:type="dcterms:W3CDTF">2026-10-07T18:30:13Z</dcterms:modified>
</cp:coreProperties>
</file>